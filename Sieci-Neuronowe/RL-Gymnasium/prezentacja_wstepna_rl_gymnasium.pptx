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E50"/>
    <a:srgbClr val="A8B4BE"/>
    <a:srgbClr val="CADCFC"/>
    <a:srgbClr val="8593BB"/>
    <a:srgbClr val="3D67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357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80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Optymalizacja agenta RL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środowisku Gymnasium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</a:rPr>
              <a:t>Poprawa jakości działania agenta Reinforcement Learning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99209"/>
            <a:ext cx="8046720" cy="829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sz="2400" b="1" dirty="0">
                <a:solidFill>
                  <a:srgbClr val="3D677B"/>
                </a:solidFill>
                <a:latin typeface="Georgia" panose="02040502050405020303" pitchFamily="18" charset="0"/>
              </a:rPr>
              <a:t>Optymalizacja agenta w środowisku </a:t>
            </a:r>
            <a:r>
              <a:rPr lang="pl-PL" sz="2400" b="1" dirty="0" err="1">
                <a:solidFill>
                  <a:srgbClr val="3D677B"/>
                </a:solidFill>
                <a:latin typeface="Georgia" panose="02040502050405020303" pitchFamily="18" charset="0"/>
              </a:rPr>
              <a:t>MountainCar</a:t>
            </a:r>
            <a:r>
              <a:rPr lang="pl-PL" sz="2400" b="1" dirty="0">
                <a:solidFill>
                  <a:srgbClr val="3D677B"/>
                </a:solidFill>
                <a:latin typeface="Georgia" panose="02040502050405020303" pitchFamily="18" charset="0"/>
              </a:rPr>
              <a:t> z biblioteki </a:t>
            </a:r>
            <a:r>
              <a:rPr lang="pl-PL" sz="2400" b="1" dirty="0" err="1">
                <a:solidFill>
                  <a:srgbClr val="3D677B"/>
                </a:solidFill>
                <a:latin typeface="Georgia" panose="02040502050405020303" pitchFamily="18" charset="0"/>
              </a:rPr>
              <a:t>Gymnasium</a:t>
            </a:r>
            <a:endParaRPr lang="en-US" sz="2400" b="1" dirty="0">
              <a:solidFill>
                <a:srgbClr val="3D677B"/>
              </a:solidFill>
              <a:latin typeface="Georgia" panose="020405020504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416052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4" name="Image 0" descr="D:\CLCO\temp_images\mountai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397764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83480" y="141732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5212080" y="14173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</a:rPr>
              <a:t>Cel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12080" y="171907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 err="1"/>
              <a:t>Wyprowadzić</a:t>
            </a:r>
            <a:r>
              <a:rPr lang="en-US" sz="1250" dirty="0"/>
              <a:t> </a:t>
            </a:r>
            <a:r>
              <a:rPr lang="pl-PL" sz="1250" dirty="0"/>
              <a:t>auto o zbyt małej mocy z dołu </a:t>
            </a:r>
            <a:r>
              <a:rPr lang="en-US" sz="1250" dirty="0" err="1"/>
              <a:t>na</a:t>
            </a:r>
            <a:r>
              <a:rPr lang="en-US" sz="1250" dirty="0"/>
              <a:t> </a:t>
            </a:r>
            <a:r>
              <a:rPr lang="en-US" sz="1250" dirty="0" err="1"/>
              <a:t>szczyt</a:t>
            </a:r>
            <a:r>
              <a:rPr lang="en-US" sz="1250" dirty="0"/>
              <a:t> </a:t>
            </a:r>
            <a:r>
              <a:rPr lang="en-US" sz="1250" dirty="0" err="1"/>
              <a:t>wzgórz</a:t>
            </a:r>
            <a:r>
              <a:rPr lang="pl-PL" sz="1250" dirty="0"/>
              <a:t>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83480" y="233172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5212080" y="23317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</a:rPr>
              <a:t>Wyzwanie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212080" y="263347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l-PL" sz="1250" dirty="0"/>
              <a:t>Silnik jest za słaby, dlatego agent musi opanować rozpędzanie auta.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983480" y="324612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5212080" y="32461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</a:rPr>
              <a:t>Nagroda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12080" y="354787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l-PL" sz="1250" dirty="0"/>
              <a:t>-1 w każdej iteracji. Celem jest jak najszybsze dotarcie do flagi</a:t>
            </a:r>
            <a:r>
              <a:rPr lang="en-US" sz="125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sz="3200" b="1" dirty="0">
                <a:solidFill>
                  <a:srgbClr val="3D677B"/>
                </a:solidFill>
              </a:rPr>
              <a:t>Plan eksperymentów i kierunki optymalizacji</a:t>
            </a:r>
            <a:endParaRPr lang="pl-PL" sz="3200" dirty="0">
              <a:solidFill>
                <a:srgbClr val="3D677B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E3ECF2"/>
          </a:solidFill>
          <a:ln/>
        </p:spPr>
        <p:txBody>
          <a:bodyPr/>
          <a:lstStyle/>
          <a:p>
            <a:endParaRPr lang="pl-PL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BASELINE   </a:t>
            </a:r>
            <a:r>
              <a:rPr lang="en-US" sz="1300" dirty="0">
                <a:solidFill>
                  <a:srgbClr val="2C3E50"/>
                </a:solidFill>
              </a:rPr>
              <a:t>gotowy agent DQN</a:t>
            </a:r>
            <a:endParaRPr lang="pl-PL" sz="1300" dirty="0">
              <a:solidFill>
                <a:srgbClr val="2C3E5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76003" y="2984863"/>
            <a:ext cx="230559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hiperparametrów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24231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pl-PL" dirty="0"/>
          </a:p>
        </p:txBody>
      </p:sp>
      <p:sp>
        <p:nvSpPr>
          <p:cNvPr id="10" name="Text 8"/>
          <p:cNvSpPr/>
          <p:nvPr/>
        </p:nvSpPr>
        <p:spPr>
          <a:xfrm>
            <a:off x="3429000" y="2984863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37490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4231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217920" y="2984863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sieci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Porównywane algorytmy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3ECF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685800" y="1399032"/>
            <a:ext cx="1874520" cy="512064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85800" y="139903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DQN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1280160"/>
            <a:ext cx="5715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Sieć neuronowa ucząca się wartości akcji (Q). Baseline projektu.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685800" y="2267712"/>
            <a:ext cx="1874520" cy="512064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685800" y="226771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REINFORCE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148840"/>
            <a:ext cx="5715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sz="1300" dirty="0">
                <a:solidFill>
                  <a:srgbClr val="2C3E50"/>
                </a:solidFill>
              </a:rPr>
              <a:t>Gradient polityki estymowany z całych epizodów. Nie wymaga </a:t>
            </a:r>
            <a:r>
              <a:rPr lang="pl-PL" sz="1300" dirty="0" err="1">
                <a:solidFill>
                  <a:srgbClr val="2C3E50"/>
                </a:solidFill>
              </a:rPr>
              <a:t>value</a:t>
            </a:r>
            <a:r>
              <a:rPr lang="pl-PL" sz="1300" dirty="0">
                <a:solidFill>
                  <a:srgbClr val="2C3E50"/>
                </a:solidFill>
              </a:rPr>
              <a:t> </a:t>
            </a:r>
            <a:r>
              <a:rPr lang="pl-PL" sz="1300" dirty="0" err="1">
                <a:solidFill>
                  <a:srgbClr val="2C3E50"/>
                </a:solidFill>
              </a:rPr>
              <a:t>function</a:t>
            </a:r>
            <a:r>
              <a:rPr lang="pl-PL" sz="1300" dirty="0">
                <a:solidFill>
                  <a:srgbClr val="2C3E50"/>
                </a:solidFill>
              </a:rPr>
              <a:t>, lecz cechuje się wysoką wariancją uczenia.</a:t>
            </a:r>
            <a:endParaRPr lang="en-US" sz="1300" dirty="0">
              <a:solidFill>
                <a:srgbClr val="2C3E5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3ECF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685800" y="3136392"/>
            <a:ext cx="1874520" cy="512064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85800" y="313639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Double DQN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017520"/>
            <a:ext cx="5715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2C3E50"/>
                </a:solidFill>
              </a:rPr>
              <a:t>Wariant</a:t>
            </a:r>
            <a:r>
              <a:rPr lang="en-US" sz="1300" dirty="0">
                <a:solidFill>
                  <a:srgbClr val="2C3E50"/>
                </a:solidFill>
              </a:rPr>
              <a:t> DQN</a:t>
            </a:r>
            <a:r>
              <a:rPr lang="pl-PL" sz="1300" dirty="0">
                <a:solidFill>
                  <a:srgbClr val="2C3E50"/>
                </a:solidFill>
              </a:rPr>
              <a:t>, który </a:t>
            </a:r>
            <a:r>
              <a:rPr lang="pl-PL" sz="1400" dirty="0">
                <a:solidFill>
                  <a:srgbClr val="2C3E50"/>
                </a:solidFill>
              </a:rPr>
              <a:t>eliminuje systematyczne zawyżanie wartości Q</a:t>
            </a:r>
            <a:r>
              <a:rPr lang="en-US" sz="1300" dirty="0">
                <a:solidFill>
                  <a:srgbClr val="2C3E50"/>
                </a:solidFill>
              </a:rPr>
              <a:t>.</a:t>
            </a:r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DF2F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685800" y="4005072"/>
            <a:ext cx="1874520" cy="512064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85800" y="400507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PPO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3886200"/>
            <a:ext cx="5715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Nowoczesna metoda policy gradient o stabilnym, ograniczonym kroku.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80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Pytania badawcze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</a:rPr>
              <a:t>Który element daje największą poprawę jakości uczenia?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965960" y="2574036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dirty="0">
                <a:solidFill>
                  <a:srgbClr val="CADCFC"/>
                </a:solidFill>
              </a:rPr>
              <a:t>Czy dobrze nastrojony prostszy algorytm przewyższy złożony z domyślnymi parametrami?</a:t>
            </a:r>
            <a:endParaRPr lang="en-US" sz="1800" dirty="0">
              <a:solidFill>
                <a:srgbClr val="CADCF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163</Words>
  <Application>Microsoft Office PowerPoint</Application>
  <PresentationFormat>Custom</PresentationFormat>
  <Paragraphs>37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Mateusz Wizner</cp:lastModifiedBy>
  <cp:revision>3</cp:revision>
  <dcterms:created xsi:type="dcterms:W3CDTF">2026-06-02T20:24:40Z</dcterms:created>
  <dcterms:modified xsi:type="dcterms:W3CDTF">2026-06-02T22:19:31Z</dcterms:modified>
</cp:coreProperties>
</file>