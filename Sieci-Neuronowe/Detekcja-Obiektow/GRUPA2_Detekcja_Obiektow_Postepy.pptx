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93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920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SIECI NEURONOWE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Detekcja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obiektów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371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Zakres prezentacji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54864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6916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projektu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2898648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044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Sformułowanie problemu detekcji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141732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1417320"/>
            <a:ext cx="54864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6916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Wybrane datasety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526280" y="2898648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26280" y="3044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BCCD · BDD100K · VisDrone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75320" y="141732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75320" y="1417320"/>
            <a:ext cx="54864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496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9164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detekcji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8549640" y="2898648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549640" y="3044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 YOLO, Faster R-CNN, SSD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228600" y="425196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28600" y="4251960"/>
            <a:ext cx="54864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452628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292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502920" y="5733288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02920" y="5879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mAP, precision, recall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251960" y="425196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251960" y="4251960"/>
            <a:ext cx="54864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2628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4526280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52628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zadań</a:t>
            </a:r>
            <a:endParaRPr lang="en-US" sz="1800" dirty="0"/>
          </a:p>
        </p:txBody>
      </p:sp>
      <p:sp>
        <p:nvSpPr>
          <p:cNvPr id="38" name="Shape 31"/>
          <p:cNvSpPr/>
          <p:nvPr/>
        </p:nvSpPr>
        <p:spPr>
          <a:xfrm>
            <a:off x="4526280" y="5733288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526280" y="5879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zrobione, co w trakcie, co dalej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275320" y="4251960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275320" y="4251960"/>
            <a:ext cx="54864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54964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0" y="4526280"/>
            <a:ext cx="502920" cy="5029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54964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Plany dalszych prac</a:t>
            </a:r>
            <a:endParaRPr lang="en-US" sz="1800" dirty="0"/>
          </a:p>
        </p:txBody>
      </p:sp>
      <p:sp>
        <p:nvSpPr>
          <p:cNvPr id="45" name="Shape 37"/>
          <p:cNvSpPr/>
          <p:nvPr/>
        </p:nvSpPr>
        <p:spPr>
          <a:xfrm>
            <a:off x="8549640" y="5733288"/>
            <a:ext cx="548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549640" y="5879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Trening, wizualizacje, analiza błędów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6888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·  Cel projektu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Detekcja obiektów na obrazach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40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1325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pl-PL" sz="1600" dirty="0">
                <a:solidFill>
                  <a:schemeClr val="accent1">
                    <a:lumMod val="75000"/>
                  </a:schemeClr>
                </a:solidFill>
              </a:rPr>
              <a:t>Testujemy model na różnych przykładach (medycyna, miasto, lotnictwo), żeby zobaczyć, czy równie dobrze wykrywa obiekty w gęstym tłumie, jak i na pustej przestrzeni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Główne zadania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52628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75488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Przygotowanie zbiorów z anotacjami bounding box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452628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475488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modeli w porównywalnych warunkach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452628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475488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32520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jakości metrykami mAP, precision, recall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76072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5532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wpływu architektury i parametrów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51960" y="553212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576072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0" y="5532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 dokładność vs. szybkość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955280" y="553212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576072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732520" y="5532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Wizualizacje detekcji i analiza FP / FN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·  Wybrane datasety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7180" y="1371600"/>
            <a:ext cx="3703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7180" y="1371600"/>
            <a:ext cx="37033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417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Medyczny  ·  Mały zbiór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21488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" y="2148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BCCD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722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Cell Count and Detection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" y="3291840"/>
            <a:ext cx="5486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722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klasy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17220" y="44805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— czerwone krwinki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— białe krwinki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— płytki krwi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29100" y="1371600"/>
            <a:ext cx="3703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29100" y="1371600"/>
            <a:ext cx="370332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03420" y="1417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 ·  Duży zbiór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2148840"/>
            <a:ext cx="731520" cy="7315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49140" y="2148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BDD100K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454914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DeepDrive — sceny uliczne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49140" y="3291840"/>
            <a:ext cx="548640" cy="3657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4914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4914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klas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4549140" y="44805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pieszy, rowerzysta, motocyklista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samochód, ciężarówka, autobus, pociąg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rower, sygnalizacja, znaki drogowe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161020" y="1371600"/>
            <a:ext cx="3703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161020" y="1371600"/>
            <a:ext cx="37033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35340" y="1417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 ·  Duża gęstość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780" y="2148840"/>
            <a:ext cx="731520" cy="7315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81060" y="2148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VisDrone</a:t>
            </a:r>
            <a:endParaRPr lang="en-US" sz="3000" dirty="0"/>
          </a:p>
        </p:txBody>
      </p:sp>
      <p:sp>
        <p:nvSpPr>
          <p:cNvPr id="30" name="Text 25"/>
          <p:cNvSpPr/>
          <p:nvPr/>
        </p:nvSpPr>
        <p:spPr>
          <a:xfrm>
            <a:off x="848106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Zdjęcia z drona — duża gęstość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481060" y="3291840"/>
            <a:ext cx="54864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48106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48106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klas</a:t>
            </a:r>
            <a:endParaRPr lang="en-US" sz="2400" dirty="0"/>
          </a:p>
        </p:txBody>
      </p:sp>
      <p:sp>
        <p:nvSpPr>
          <p:cNvPr id="34" name="Text 29"/>
          <p:cNvSpPr/>
          <p:nvPr/>
        </p:nvSpPr>
        <p:spPr>
          <a:xfrm>
            <a:off x="8481060" y="44805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pieszy, ludzie, rower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auto, van, ciężarówka, autobus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tricycle, awning-tricycle, motor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12">
            <a:extLst>
              <a:ext uri="{FF2B5EF4-FFF2-40B4-BE49-F238E27FC236}">
                <a16:creationId xmlns:a16="http://schemas.microsoft.com/office/drawing/2014/main" id="{04358771-9DA9-46F7-8859-D8AC8FE20D04}"/>
              </a:ext>
            </a:extLst>
          </p:cNvPr>
          <p:cNvSpPr/>
          <p:nvPr/>
        </p:nvSpPr>
        <p:spPr>
          <a:xfrm>
            <a:off x="4892040" y="1188720"/>
            <a:ext cx="6675120" cy="256418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·  Model 1/3  ·  YOLO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023360" cy="5212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5212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4709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14600" y="5212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parametrów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5074920" y="1828800"/>
            <a:ext cx="6766560" cy="173736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25780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treningowy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5257800" y="219456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data_interface import load_project_data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yaml_path = load_project_data('bccd', model_type='yolo')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YOLO('yolov8n.pt')</a:t>
            </a:r>
            <a:endParaRPr lang="en-US" sz="11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model.train(data=yaml_path, epochs=5, imgsz=640)</a:t>
            </a:r>
            <a:endParaRPr lang="en-US" sz="1150" dirty="0"/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E4299453-15E3-49F9-9B1B-F92E1F9FD003}"/>
              </a:ext>
            </a:extLst>
          </p:cNvPr>
          <p:cNvSpPr/>
          <p:nvPr/>
        </p:nvSpPr>
        <p:spPr>
          <a:xfrm>
            <a:off x="4892040" y="1188720"/>
            <a:ext cx="45720" cy="2564189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828BB0A3-94BC-40D0-A884-FE4E7D043D10}"/>
              </a:ext>
            </a:extLst>
          </p:cNvPr>
          <p:cNvSpPr/>
          <p:nvPr/>
        </p:nvSpPr>
        <p:spPr>
          <a:xfrm>
            <a:off x="5074920" y="13258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endParaRPr lang="en-US" sz="1600" dirty="0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CF3CF9F6-A5B3-47EC-BC83-962710F56AF9}"/>
              </a:ext>
            </a:extLst>
          </p:cNvPr>
          <p:cNvSpPr/>
          <p:nvPr/>
        </p:nvSpPr>
        <p:spPr>
          <a:xfrm>
            <a:off x="4904349" y="3970959"/>
            <a:ext cx="67665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64" name="Shape 37">
            <a:extLst>
              <a:ext uri="{FF2B5EF4-FFF2-40B4-BE49-F238E27FC236}">
                <a16:creationId xmlns:a16="http://schemas.microsoft.com/office/drawing/2014/main" id="{7EE0DDC7-54FF-4A26-99BC-7BA94E8D5016}"/>
              </a:ext>
            </a:extLst>
          </p:cNvPr>
          <p:cNvSpPr/>
          <p:nvPr/>
        </p:nvSpPr>
        <p:spPr>
          <a:xfrm>
            <a:off x="4904349" y="3970959"/>
            <a:ext cx="73152" cy="1783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D29BA05F-0808-4412-AE88-96FC4F9FA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229" y="4108119"/>
            <a:ext cx="365760" cy="365760"/>
          </a:xfrm>
          <a:prstGeom prst="rect">
            <a:avLst/>
          </a:prstGeom>
        </p:spPr>
      </p:pic>
      <p:sp>
        <p:nvSpPr>
          <p:cNvPr id="66" name="Text 38">
            <a:extLst>
              <a:ext uri="{FF2B5EF4-FFF2-40B4-BE49-F238E27FC236}">
                <a16:creationId xmlns:a16="http://schemas.microsoft.com/office/drawing/2014/main" id="{550AFBC1-770F-45A4-AC17-787A042C3D8F}"/>
              </a:ext>
            </a:extLst>
          </p:cNvPr>
          <p:cNvSpPr/>
          <p:nvPr/>
        </p:nvSpPr>
        <p:spPr>
          <a:xfrm>
            <a:off x="5544429" y="4089831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straty i trening</a:t>
            </a:r>
            <a:endParaRPr lang="en-US" sz="1500" dirty="0"/>
          </a:p>
        </p:txBody>
      </p:sp>
      <p:sp>
        <p:nvSpPr>
          <p:cNvPr id="67" name="Shape 39">
            <a:extLst>
              <a:ext uri="{FF2B5EF4-FFF2-40B4-BE49-F238E27FC236}">
                <a16:creationId xmlns:a16="http://schemas.microsoft.com/office/drawing/2014/main" id="{882AD313-24EB-4D35-83DD-72345397D0BF}"/>
              </a:ext>
            </a:extLst>
          </p:cNvPr>
          <p:cNvSpPr/>
          <p:nvPr/>
        </p:nvSpPr>
        <p:spPr>
          <a:xfrm>
            <a:off x="5132949" y="4611039"/>
            <a:ext cx="54864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8" name="Text 40">
            <a:extLst>
              <a:ext uri="{FF2B5EF4-FFF2-40B4-BE49-F238E27FC236}">
                <a16:creationId xmlns:a16="http://schemas.microsoft.com/office/drawing/2014/main" id="{409B676D-B5EB-43D8-A41D-29EF365D9620}"/>
              </a:ext>
            </a:extLst>
          </p:cNvPr>
          <p:cNvSpPr/>
          <p:nvPr/>
        </p:nvSpPr>
        <p:spPr>
          <a:xfrm>
            <a:off x="5270109" y="4611039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</a:t>
            </a:r>
            <a:endParaRPr lang="en-US" sz="1100" dirty="0"/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8360B7A8-B3FA-4860-803B-D46CECF641DB}"/>
              </a:ext>
            </a:extLst>
          </p:cNvPr>
          <p:cNvSpPr/>
          <p:nvPr/>
        </p:nvSpPr>
        <p:spPr>
          <a:xfrm>
            <a:off x="6870309" y="4611039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 (Binary Cross-Entropy)</a:t>
            </a:r>
            <a:endParaRPr lang="en-US" sz="1100" dirty="0"/>
          </a:p>
        </p:txBody>
      </p:sp>
      <p:sp>
        <p:nvSpPr>
          <p:cNvPr id="70" name="Shape 42">
            <a:extLst>
              <a:ext uri="{FF2B5EF4-FFF2-40B4-BE49-F238E27FC236}">
                <a16:creationId xmlns:a16="http://schemas.microsoft.com/office/drawing/2014/main" id="{EAA9F6BD-572E-4CF3-A335-4E2E1AFDB307}"/>
              </a:ext>
            </a:extLst>
          </p:cNvPr>
          <p:cNvSpPr/>
          <p:nvPr/>
        </p:nvSpPr>
        <p:spPr>
          <a:xfrm>
            <a:off x="5132949" y="4885359"/>
            <a:ext cx="54864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1" name="Text 43">
            <a:extLst>
              <a:ext uri="{FF2B5EF4-FFF2-40B4-BE49-F238E27FC236}">
                <a16:creationId xmlns:a16="http://schemas.microsoft.com/office/drawing/2014/main" id="{D7BEC35E-9BA6-40F1-AE3B-B871B72DC13C}"/>
              </a:ext>
            </a:extLst>
          </p:cNvPr>
          <p:cNvSpPr/>
          <p:nvPr/>
        </p:nvSpPr>
        <p:spPr>
          <a:xfrm>
            <a:off x="5270109" y="4885359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</a:t>
            </a:r>
            <a:endParaRPr lang="en-US" sz="1100" dirty="0"/>
          </a:p>
        </p:txBody>
      </p:sp>
      <p:sp>
        <p:nvSpPr>
          <p:cNvPr id="72" name="Text 44">
            <a:extLst>
              <a:ext uri="{FF2B5EF4-FFF2-40B4-BE49-F238E27FC236}">
                <a16:creationId xmlns:a16="http://schemas.microsoft.com/office/drawing/2014/main" id="{AC1359CC-09BE-4398-8FEC-4C4D38C5E911}"/>
              </a:ext>
            </a:extLst>
          </p:cNvPr>
          <p:cNvSpPr/>
          <p:nvPr/>
        </p:nvSpPr>
        <p:spPr>
          <a:xfrm>
            <a:off x="6870309" y="4885359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CIoU</a:t>
            </a:r>
            <a:endParaRPr lang="en-US" sz="1100" dirty="0"/>
          </a:p>
        </p:txBody>
      </p:sp>
      <p:sp>
        <p:nvSpPr>
          <p:cNvPr id="73" name="Shape 48">
            <a:extLst>
              <a:ext uri="{FF2B5EF4-FFF2-40B4-BE49-F238E27FC236}">
                <a16:creationId xmlns:a16="http://schemas.microsoft.com/office/drawing/2014/main" id="{1BBC8DDC-E40D-4EEA-B812-332ECA2BEE81}"/>
              </a:ext>
            </a:extLst>
          </p:cNvPr>
          <p:cNvSpPr/>
          <p:nvPr/>
        </p:nvSpPr>
        <p:spPr>
          <a:xfrm>
            <a:off x="5132949" y="5175858"/>
            <a:ext cx="54864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4" name="Text 49">
            <a:extLst>
              <a:ext uri="{FF2B5EF4-FFF2-40B4-BE49-F238E27FC236}">
                <a16:creationId xmlns:a16="http://schemas.microsoft.com/office/drawing/2014/main" id="{B4DD506B-554B-4877-AE22-2C0B95BA5FF2}"/>
              </a:ext>
            </a:extLst>
          </p:cNvPr>
          <p:cNvSpPr/>
          <p:nvPr/>
        </p:nvSpPr>
        <p:spPr>
          <a:xfrm>
            <a:off x="5270109" y="517585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Optymalizator</a:t>
            </a:r>
            <a:endParaRPr lang="en-US" sz="1100" dirty="0"/>
          </a:p>
        </p:txBody>
      </p:sp>
      <p:sp>
        <p:nvSpPr>
          <p:cNvPr id="75" name="Text 50">
            <a:extLst>
              <a:ext uri="{FF2B5EF4-FFF2-40B4-BE49-F238E27FC236}">
                <a16:creationId xmlns:a16="http://schemas.microsoft.com/office/drawing/2014/main" id="{A04FF511-7042-4D68-93CB-7BACEE60DFE0}"/>
              </a:ext>
            </a:extLst>
          </p:cNvPr>
          <p:cNvSpPr/>
          <p:nvPr/>
        </p:nvSpPr>
        <p:spPr>
          <a:xfrm>
            <a:off x="6870309" y="52004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·  Model 2/3  ·  Faster R-CNN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206240" cy="5212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5212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R-CNN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Najwyższa dokładność. RPN (Region Proposal Network) generuje propozycje, druga sieć je klasyfikuje i koryguje.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6675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1188720"/>
            <a:ext cx="73152" cy="3017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258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1737360"/>
            <a:ext cx="6355080" cy="23317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828800"/>
            <a:ext cx="6080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torchvision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torchvision.models.detection.faster_rcnn \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FastRCNNPredictor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torchvision.models.detection.fasterrcnn_resnet50_fpn(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weights='DEFAULT')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in_features = model.roi_heads.box_predictor.cls_score.in_features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model.roi_heads.box_predictor = FastRCNNPredictor(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in_features, num_classes=4)   # fine-tuning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·  Model 3/3  ·  SSD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657600" cy="5212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73152" cy="5212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MULTIBOX DETECTOR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SSD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777240" y="3749040"/>
            <a:ext cx="640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188720"/>
            <a:ext cx="41148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188720"/>
            <a:ext cx="73152" cy="5212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Mapy cech &amp; anchory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dużych do małych skal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011680"/>
            <a:ext cx="3840480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11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95160" y="20116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43800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2331720"/>
            <a:ext cx="3840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3317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Conv4_3 (VGG)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3317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× 38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23317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23317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małe obiekty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26609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Conv7 (FC→Conv)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26609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× 19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2660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43800" y="26609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990088"/>
            <a:ext cx="3840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990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Conv8_2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2990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× 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29900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43800" y="2990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33192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Conv9_2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33192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× 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319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43800" y="33192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duże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3648456"/>
            <a:ext cx="3840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6484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Conv10_2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36484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× 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95160" y="36484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43800" y="36484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duże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3977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Conv11_2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39776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95160" y="39776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43800" y="39776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całe sceny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4434840"/>
            <a:ext cx="3840480" cy="6400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Łącznie anchorów: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8 732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4617720" y="5212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Stosunki boków: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17720" y="5486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0.5]  ·  [1, 2, 3, 0.5, 0.333]  ·  [1, 2, 0.5]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617720" y="5806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dodatkowy anchor o skali  √(s_k · s_k+1)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· </a:t>
            </a:r>
            <a:r>
              <a:rPr lang="pl-PL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Ocena </a:t>
            </a:r>
            <a:r>
              <a:rPr lang="en-US" sz="2600" b="1" dirty="0" err="1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8620" y="1142648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" y="1142648"/>
            <a:ext cx="274320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3255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71500" y="214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" y="2468528"/>
            <a:ext cx="457200" cy="274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55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uśrednione AP po wszystkich klasach i progach IoU od 0.5 do 0.95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8980" y="1142648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8980" y="1142648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1860" y="13255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mAP50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51860" y="214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@ IoU = 0.50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51860" y="2468528"/>
            <a:ext cx="4572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1860" y="255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główna metryka porównawcza — łagodniejszy próg detekcji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9340" y="1142648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9340" y="1142648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2220" y="13255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mAP75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32220" y="214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@ IoU = 0.75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32220" y="2468528"/>
            <a:ext cx="4572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2220" y="255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rygorystyczna miara dokładności lokalizacji bboxów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29700" y="1142648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29700" y="1142648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2580" y="13255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9212580" y="2468528"/>
            <a:ext cx="457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2580" y="255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frakcja prawdziwych obiektów wykrytych przez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64008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931920"/>
            <a:ext cx="73152" cy="2468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023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evaluate()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4389120"/>
            <a:ext cx="6126480" cy="18745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4805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torchmetrics.detection.mean_ap import MeanAveragePrecision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= MeanAveragePrecision(box_format="xyxy")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images, targets in val_loader: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outputs = model(images)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metric.update(preds, gts)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metric.compute()  # mAP, mAP50, mAP75, recall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78040" y="3931920"/>
            <a:ext cx="4526280" cy="24688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3931920"/>
            <a:ext cx="73152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069080"/>
            <a:ext cx="411480" cy="4114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863840" y="4069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będziemy mierzyć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7360920" y="473659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8952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Dokładność: mAP, mAP50, mAP75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360920" y="5065776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89520" y="4992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Szybkość: FPS / czas pojedynczej inferencji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360920" y="539496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89520" y="5321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— krzywa per klasa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360920" y="5724144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89520" y="5650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Wpływ rozmiaru danych (BCCD vs BDD)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360920" y="6053328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589520" y="5980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FP / FN — gdzie modele zawodzą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6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·  Status zadań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kolumny — kanban projektu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" y="1417320"/>
            <a:ext cx="37033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7180" y="1417320"/>
            <a:ext cx="37033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" y="1417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ZROBIONE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6042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" y="2267712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tematu i datasetów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" y="2670048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" y="25968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Loadery: BCCD, BDD100K, VisDrone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" y="3072384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" y="2999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— fine-tuning ResNet-50 + FPN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" y="347472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Auto-rozpakowywanie ZIP (Colab)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" y="3877056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" y="3803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— generator 8 732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anchorów</a:t>
            </a: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" y="46085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" y="5413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29100" y="1417320"/>
            <a:ext cx="37033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29100" y="1417320"/>
            <a:ext cx="37033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11980" y="1417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TRAKCIE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9234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457700" y="226771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 trening modeli (BCCD)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57700" y="267004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5968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pętli treningowej Faster R-CNN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57700" y="3072384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999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— implementacja MultiBox loss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57700" y="347472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Mapowanie klas między datasetami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57700" y="3877056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6300" y="3803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lokalne datasetów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61020" y="1417320"/>
            <a:ext cx="37033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61020" y="1417320"/>
            <a:ext cx="370332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43900" y="1417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ZROBIENIA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22426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389620" y="2267712"/>
            <a:ext cx="137160" cy="1371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822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modeli na BDD100K i VisDrone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89620" y="2670048"/>
            <a:ext cx="137160" cy="1371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8220" y="25968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false positives / false negatives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389620" y="3072384"/>
            <a:ext cx="137160" cy="1371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18220" y="2999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overlays)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89620" y="3474720"/>
            <a:ext cx="137160" cy="1371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1822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FPS /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inferencji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89620" y="3877056"/>
            <a:ext cx="137160" cy="1371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8220" y="3803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porównawcza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3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89620" y="4279392"/>
            <a:ext cx="137160" cy="1371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82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końcowe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830</Words>
  <Application>Microsoft Office PowerPoint</Application>
  <PresentationFormat>Widescreen</PresentationFormat>
  <Paragraphs>199</Paragraphs>
  <Slides>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Detekcja Obiektów - Postępy projektu</dc:title>
  <dc:subject>PptxGenJS Presentation</dc:subject>
  <dc:creator>GRUPA 2</dc:creator>
  <cp:lastModifiedBy>Michal Frackowiak</cp:lastModifiedBy>
  <cp:revision>2</cp:revision>
  <dcterms:created xsi:type="dcterms:W3CDTF">2026-05-05T20:15:41Z</dcterms:created>
  <dcterms:modified xsi:type="dcterms:W3CDTF">2026-05-05T20:48:34Z</dcterms:modified>
</cp:coreProperties>
</file>