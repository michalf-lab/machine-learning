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Montserrat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09B953-01E0-499B-AC6E-0C1895E6FB1E}">
  <a:tblStyle styleId="{4B09B953-01E0-499B-AC6E-0C1895E6FB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20" Type="http://schemas.openxmlformats.org/officeDocument/2006/relationships/slide" Target="slides/slide14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22" Type="http://schemas.openxmlformats.org/officeDocument/2006/relationships/slide" Target="slides/slide16.xml"/><Relationship Id="rId44" Type="http://schemas.openxmlformats.org/officeDocument/2006/relationships/font" Target="fonts/Lato-bold.fntdata"/><Relationship Id="rId21" Type="http://schemas.openxmlformats.org/officeDocument/2006/relationships/slide" Target="slides/slide15.xml"/><Relationship Id="rId43" Type="http://schemas.openxmlformats.org/officeDocument/2006/relationships/font" Target="fonts/Lato-regular.fntdata"/><Relationship Id="rId24" Type="http://schemas.openxmlformats.org/officeDocument/2006/relationships/slide" Target="slides/slide18.xml"/><Relationship Id="rId46" Type="http://schemas.openxmlformats.org/officeDocument/2006/relationships/font" Target="fonts/Lato-boldItalic.fntdata"/><Relationship Id="rId23" Type="http://schemas.openxmlformats.org/officeDocument/2006/relationships/slide" Target="slides/slide17.xml"/><Relationship Id="rId45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Montserrat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62ccef59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62ccef59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2ccef594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62ccef59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2ccef594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62ccef594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62ccef594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62ccef594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62ccef594_2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62ccef594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62ccef594_2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62ccef594_2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62ccef59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62ccef59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2ccef594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62ccef594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62ccef594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62ccef594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62ccef594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62ccef594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62ccef594_2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62ccef594_2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62ccef59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62ccef59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62ccef594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62ccef594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2ccef59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62ccef59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62ccef594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62ccef594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62ccef594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62ccef594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62ccef594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62ccef594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62ccef594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62ccef594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62ccef594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62ccef594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62ccef594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62ccef594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62ccef594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62ccef594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62ccef594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62ccef594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62ccef594_2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62ccef594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62ccef594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62ccef594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62ccef594_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62ccef594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62ccef594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62ccef594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62ccef594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62ccef594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62ccef594_5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62ccef594_5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62ccef594_5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62ccef594_5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62ccef594_5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62ccef594_5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62ccef594_5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62ccef594_5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Vision Transformer vs CNN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type="title"/>
          </p:nvPr>
        </p:nvSpPr>
        <p:spPr>
          <a:xfrm>
            <a:off x="823850" y="2053000"/>
            <a:ext cx="43197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4900"/>
              <a:t>Zbiory danych</a:t>
            </a:r>
            <a:endParaRPr sz="4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324925" y="1208850"/>
            <a:ext cx="42471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CIFAR-10</a:t>
            </a:r>
            <a:endParaRPr/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925" y="1976533"/>
            <a:ext cx="4247075" cy="209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>
            <p:ph type="title"/>
          </p:nvPr>
        </p:nvSpPr>
        <p:spPr>
          <a:xfrm>
            <a:off x="4962825" y="448650"/>
            <a:ext cx="3403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Imagenette2 320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2813" y="1257713"/>
            <a:ext cx="3344033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p16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{4B09B953-01E0-499B-AC6E-0C1895E6FB1E}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lt1"/>
                          </a:solidFill>
                        </a:rPr>
                        <a:t>CIFAR-10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l">
                          <a:solidFill>
                            <a:schemeClr val="lt1"/>
                          </a:solidFill>
                        </a:rPr>
                        <a:t>Imagenette2 320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Liczba obrazów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60 tys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&gt;13 tys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Liczba klas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Rozdzielczość obrazów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32x32 px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32x32 / 112x112 px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dużo małych obrazów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">
                          <a:solidFill>
                            <a:schemeClr val="lt1"/>
                          </a:solidFill>
                        </a:rPr>
                        <a:t>mało dużych obrazów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</a:t>
            </a:r>
            <a:r>
              <a:rPr lang="pl"/>
              <a:t>ata loader</a:t>
            </a:r>
            <a:endParaRPr/>
          </a:p>
        </p:txBody>
      </p:sp>
      <p:pic>
        <p:nvPicPr>
          <p:cNvPr id="158" name="Google Shape;158;p17" title="image.png"/>
          <p:cNvPicPr preferRelativeResize="0"/>
          <p:nvPr/>
        </p:nvPicPr>
        <p:blipFill rotWithShape="1">
          <a:blip r:embed="rId3">
            <a:alphaModFix/>
          </a:blip>
          <a:srcRect b="0" l="0" r="0" t="11064"/>
          <a:stretch/>
        </p:blipFill>
        <p:spPr>
          <a:xfrm>
            <a:off x="0" y="1897825"/>
            <a:ext cx="9143999" cy="299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4900"/>
              <a:t>Sieci</a:t>
            </a:r>
            <a:endParaRPr sz="4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2286000" y="1720825"/>
            <a:ext cx="4572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Vision Transformer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Vision Transformer</a:t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3475"/>
            <a:ext cx="8839204" cy="3211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Architektura</a:t>
            </a:r>
            <a:endParaRPr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l"/>
              <a:t>Patch Embedding 	</a:t>
            </a:r>
            <a:r>
              <a:rPr lang="pl"/>
              <a:t>-  Obraz wejściowy dzielony na nienachodzące na siebie kwadraty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l"/>
              <a:t>Positional Encoding  </a:t>
            </a:r>
            <a:r>
              <a:rPr lang="pl"/>
              <a:t>-  Kodowanie sinusoidalne (sin/cos)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l"/>
              <a:t>Transformer Blocks  </a:t>
            </a:r>
            <a:r>
              <a:rPr lang="pl"/>
              <a:t>-  </a:t>
            </a:r>
            <a:r>
              <a:rPr lang="pl"/>
              <a:t>Sekwencja bloków zawierających mechanizm Multi-head Attention oraz sieć FeedForward (GELU).</a:t>
            </a:r>
            <a:endParaRPr sz="15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pl"/>
              <a:t>Token CLS  -  </a:t>
            </a:r>
            <a:r>
              <a:rPr lang="pl"/>
              <a:t>Dodatkowy, uczalny parametr na początku sekwencji, który zbiera informacje z całego obrazu i służy do finalnej klasyfikacji.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Positional Encoding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688" y="1111975"/>
            <a:ext cx="7086524" cy="35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Implementacja i trening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Mechanizm Atencji: 8 głów , co pozwala modelowi równolegle analizować różne relacje przestrzenne w obrazie.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Optymalizacja: Użycie algorytmu AdamW .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l"/>
              <a:t>Label Smoothing (0.1)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l"/>
              <a:t>Dropout (0.3):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Stabilność: Zastosowanie Pre-Norm (LayerNorm przed atencją), co ułatwia przepływ gradientu w głębszych sieciach.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2286000" y="1720825"/>
            <a:ext cx="4572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CNN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CNN</a:t>
            </a:r>
            <a:endParaRPr/>
          </a:p>
        </p:txBody>
      </p:sp>
      <p:pic>
        <p:nvPicPr>
          <p:cNvPr id="204" name="Google Shape;204;p25" title="ddddasd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7076" y="392938"/>
            <a:ext cx="3352026" cy="435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23850" y="2053000"/>
            <a:ext cx="51432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4900"/>
              <a:t>Eksperymenty</a:t>
            </a:r>
            <a:endParaRPr sz="4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Modele</a:t>
            </a: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950" y="1956350"/>
            <a:ext cx="665797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4900"/>
              <a:t>Wyniki</a:t>
            </a:r>
            <a:endParaRPr sz="4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2286000" y="1720825"/>
            <a:ext cx="4572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CIFAR 10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5448"/>
            <a:ext cx="9144000" cy="3952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3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23419"/>
            <a:ext cx="9144000" cy="396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3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0454"/>
            <a:ext cx="9144002" cy="3962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6000"/>
            <a:ext cx="8839198" cy="3271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4986"/>
            <a:ext cx="9143999" cy="314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2286000" y="1720825"/>
            <a:ext cx="45720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Imagenette2 320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4248"/>
            <a:ext cx="9144001" cy="239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3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86445"/>
            <a:ext cx="9143999" cy="325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3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8352"/>
            <a:ext cx="9143999" cy="3806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7578"/>
            <a:ext cx="9143999" cy="3768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4303"/>
            <a:ext cx="9143999" cy="3768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4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2420"/>
            <a:ext cx="9143999" cy="325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1128"/>
            <a:ext cx="9143999" cy="3768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8" y="242888"/>
            <a:ext cx="8467725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